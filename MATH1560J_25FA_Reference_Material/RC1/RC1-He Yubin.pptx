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1" r:id="rId5"/>
    <p:sldId id="269" r:id="rId6"/>
    <p:sldId id="264" r:id="rId7"/>
    <p:sldId id="267" r:id="rId8"/>
    <p:sldId id="268" r:id="rId9"/>
    <p:sldId id="270" r:id="rId10"/>
    <p:sldId id="271" r:id="rId11"/>
    <p:sldId id="272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宇彬 何" initials="宇彬" lastIdx="1" clrIdx="0">
    <p:extLst>
      <p:ext uri="{19B8F6BF-5375-455C-9EA6-DF929625EA0E}">
        <p15:presenceInfo xmlns:p15="http://schemas.microsoft.com/office/powerpoint/2012/main" userId="fe0b07a6f0eaaca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8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sz="6600" dirty="0"/>
              <a:t>MATH156-RC1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sz="2000" dirty="0"/>
              <a:t>He </a:t>
            </a:r>
            <a:r>
              <a:rPr lang="en-US" altLang="zh-CN" sz="2000" dirty="0" err="1"/>
              <a:t>Yubin</a:t>
            </a:r>
            <a:endParaRPr lang="en-US" altLang="zh-CN" sz="2000" dirty="0"/>
          </a:p>
          <a:p>
            <a:r>
              <a:rPr lang="en-US" altLang="zh-CN" sz="2000" dirty="0"/>
              <a:t>2025.9.30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Notation for Sets of Numbers</a:t>
            </a:r>
            <a:endParaRPr lang="zh-CN" altLang="en-US" dirty="0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754AA1B9-E18A-45BA-ACDD-0CB5F37A4C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8061" y="1743782"/>
            <a:ext cx="9909821" cy="4351338"/>
          </a:xfr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-6744"/>
            <a:ext cx="10515600" cy="1325563"/>
          </a:xfrm>
        </p:spPr>
        <p:txBody>
          <a:bodyPr/>
          <a:lstStyle/>
          <a:p>
            <a:r>
              <a:rPr lang="en-US" altLang="zh-CN" dirty="0"/>
              <a:t>Set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032735"/>
            <a:ext cx="10515600" cy="4792529"/>
          </a:xfrm>
        </p:spPr>
        <p:txBody>
          <a:bodyPr/>
          <a:lstStyle/>
          <a:p>
            <a:r>
              <a:rPr lang="en-US" altLang="zh-CN" dirty="0"/>
              <a:t>Cardinality: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Set Operations:</a:t>
            </a:r>
          </a:p>
          <a:p>
            <a:pPr marL="0" indent="0">
              <a:buNone/>
            </a:pPr>
            <a:r>
              <a:rPr lang="en-US" altLang="zh-CN" dirty="0"/>
              <a:t>      </a:t>
            </a:r>
            <a:r>
              <a:rPr lang="en-US" altLang="zh-CN" sz="2400" dirty="0"/>
              <a:t>Subset: </a:t>
            </a:r>
          </a:p>
          <a:p>
            <a:pPr marL="0" indent="0">
              <a:buNone/>
            </a:pPr>
            <a:r>
              <a:rPr lang="en-US" altLang="zh-CN" sz="2400" dirty="0"/>
              <a:t>       Proper Subset: 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AA3E9B5D-2178-45AC-873C-F04706188C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6404" y="1667929"/>
            <a:ext cx="8776765" cy="1243153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35085897-4931-4B30-9D62-BAA105825E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4535" y="3108124"/>
            <a:ext cx="2367575" cy="463917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8DB9046C-07DA-4AB4-B686-745B96D27B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4693" y="5536626"/>
            <a:ext cx="8431854" cy="1163196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9B549011-8349-487E-8096-9636228802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4693" y="4541373"/>
            <a:ext cx="1287585" cy="62882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Cartesian Product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2BF6CC2-2576-4320-9106-53196B495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974" y="1716078"/>
            <a:ext cx="9008388" cy="25823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-6744"/>
            <a:ext cx="10515600" cy="1325563"/>
          </a:xfrm>
        </p:spPr>
        <p:txBody>
          <a:bodyPr/>
          <a:lstStyle/>
          <a:p>
            <a:r>
              <a:rPr lang="en-US" altLang="zh-CN" dirty="0"/>
              <a:t>Functions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25A8300-D574-49BA-89F5-5E8174FE1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298" y="1260039"/>
            <a:ext cx="10014502" cy="168769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82B1575-373C-40B1-904C-1A49F08E65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078" y="3025322"/>
            <a:ext cx="10014502" cy="3232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786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23541"/>
            <a:ext cx="10515600" cy="1325563"/>
          </a:xfrm>
        </p:spPr>
        <p:txBody>
          <a:bodyPr/>
          <a:lstStyle/>
          <a:p>
            <a:r>
              <a:rPr lang="en-US" altLang="zh-CN" dirty="0">
                <a:sym typeface="+mn-ea"/>
              </a:rPr>
              <a:t>Injection/Surjection/Bijection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4FEFEA1-7672-45F6-886E-B17297172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058" y="1448850"/>
            <a:ext cx="6501064" cy="114700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671C181-DC3F-4CE7-9576-61D275DCC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3388" y="3166598"/>
            <a:ext cx="6754074" cy="162177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15E80F3-B7F2-4396-9843-1919C2CEF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290" y="5359116"/>
            <a:ext cx="6324599" cy="11158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Derivative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4255186B-D4E1-4274-8F73-A7CB3A4055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1512" y="1613996"/>
            <a:ext cx="8455667" cy="495244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7BB434F-B271-45E3-977A-D5A655A4D1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884" y="739134"/>
            <a:ext cx="9856231" cy="52778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-159918"/>
            <a:ext cx="10515600" cy="1325563"/>
          </a:xfrm>
        </p:spPr>
        <p:txBody>
          <a:bodyPr/>
          <a:lstStyle/>
          <a:p>
            <a:r>
              <a:rPr lang="en-US" altLang="zh-CN" dirty="0"/>
              <a:t>Two Important notations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09DDEBB-DD2F-41EA-97B9-E12C57FEE8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035" y="996991"/>
            <a:ext cx="9043361" cy="303074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57BE6EE-7B39-467E-8C7F-A27D9CB7D5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035" y="4612507"/>
            <a:ext cx="7312937" cy="192397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2DB2C9A-BC9C-4DB5-867B-79D26C8401F9}"/>
              </a:ext>
            </a:extLst>
          </p:cNvPr>
          <p:cNvSpPr txBox="1"/>
          <p:nvPr/>
        </p:nvSpPr>
        <p:spPr>
          <a:xfrm>
            <a:off x="1014689" y="996991"/>
            <a:ext cx="497252" cy="40924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zh-CN" sz="2800" dirty="0">
              <a:solidFill>
                <a:prstClr val="black"/>
              </a:solidFill>
              <a:latin typeface="Calibri"/>
              <a:ea typeface="微软雅黑" panose="020B0503020204020204" pitchFamily="34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sz="2800" dirty="0">
                <a:solidFill>
                  <a:prstClr val="black"/>
                </a:solidFill>
                <a:latin typeface="Calibri"/>
                <a:ea typeface="微软雅黑" panose="020B0503020204020204" pitchFamily="34" charset="-122"/>
              </a:rPr>
              <a:t> 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7440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9710" y="394622"/>
            <a:ext cx="10515600" cy="1325563"/>
          </a:xfrm>
        </p:spPr>
        <p:txBody>
          <a:bodyPr/>
          <a:lstStyle/>
          <a:p>
            <a:r>
              <a:rPr lang="en-US" altLang="zh-CN" dirty="0"/>
              <a:t>One method for solving limits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31D552C-5EB2-41DD-8CB5-B6DB09B575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7002" y="1781213"/>
            <a:ext cx="5514397" cy="4299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138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9710" y="394622"/>
            <a:ext cx="10515600" cy="1325563"/>
          </a:xfrm>
        </p:spPr>
        <p:txBody>
          <a:bodyPr/>
          <a:lstStyle/>
          <a:p>
            <a:r>
              <a:rPr lang="en-US" altLang="zh-CN" dirty="0"/>
              <a:t>References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9E4E123-8B60-4050-B323-596509920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8013" y="1772939"/>
            <a:ext cx="10515600" cy="47925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altLang="zh-CN" sz="2400" dirty="0"/>
              <a:t>[1] Cai, Runze. 156-fa250918.pdf. 2025.</a:t>
            </a:r>
          </a:p>
          <a:p>
            <a:pPr marL="0" indent="0">
              <a:buNone/>
            </a:pPr>
            <a:r>
              <a:rPr lang="fr-FR" altLang="zh-CN" sz="2400" dirty="0"/>
              <a:t>[2] Cai, Runze. 156-fa250919.pdf. 2025.</a:t>
            </a:r>
          </a:p>
          <a:p>
            <a:pPr marL="0" indent="0">
              <a:buNone/>
            </a:pPr>
            <a:r>
              <a:rPr lang="fr-FR" altLang="zh-CN" sz="2400" dirty="0"/>
              <a:t>[3] Cai, Runze. 156-fa250923.pdf. 2025.</a:t>
            </a:r>
          </a:p>
          <a:p>
            <a:pPr marL="0" indent="0">
              <a:buNone/>
            </a:pPr>
            <a:r>
              <a:rPr lang="fr-FR" altLang="zh-CN" sz="2400" dirty="0"/>
              <a:t>[4] Cai, Runze. 156-fa250925.pdf. 2025.</a:t>
            </a:r>
          </a:p>
          <a:p>
            <a:pPr marL="0" indent="0">
              <a:buNone/>
            </a:pPr>
            <a:endParaRPr lang="fr-FR" altLang="zh-CN" sz="2400" dirty="0"/>
          </a:p>
          <a:p>
            <a:pPr marL="0" indent="0">
              <a:buNone/>
            </a:pPr>
            <a:r>
              <a:rPr lang="fr-FR" altLang="zh-CN" sz="2400" dirty="0"/>
              <a:t>    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4252860599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95</Words>
  <Application>Microsoft Office PowerPoint</Application>
  <PresentationFormat>宽屏</PresentationFormat>
  <Paragraphs>35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4" baseType="lpstr">
      <vt:lpstr>Arial</vt:lpstr>
      <vt:lpstr>Calibri</vt:lpstr>
      <vt:lpstr>WPS</vt:lpstr>
      <vt:lpstr>MATH156-RC1</vt:lpstr>
      <vt:lpstr>Notation for Sets of Numbers</vt:lpstr>
      <vt:lpstr>Set</vt:lpstr>
      <vt:lpstr>Cartesian Product</vt:lpstr>
      <vt:lpstr>Functions</vt:lpstr>
      <vt:lpstr>Injection/Surjection/Bijection</vt:lpstr>
      <vt:lpstr>Derivative</vt:lpstr>
      <vt:lpstr>PowerPoint 演示文稿</vt:lpstr>
      <vt:lpstr>Two Important notations</vt:lpstr>
      <vt:lpstr>One method for solving limits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MATH156-RC1</dc:title>
  <dc:creator>王一凡</dc:creator>
  <cp:lastModifiedBy>宇彬 何</cp:lastModifiedBy>
  <cp:revision>26</cp:revision>
  <dcterms:created xsi:type="dcterms:W3CDTF">2023-08-09T12:44:00Z</dcterms:created>
  <dcterms:modified xsi:type="dcterms:W3CDTF">2025-09-29T14:51:30Z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2052-12.1.0.21541</vt:lpwstr>
  </property>
  <property fmtid="{D5CDD505-2E9C-101B-9397-08002B2CF9AE}" pid="3" name="ICV">
    <vt:lpwstr>361942FC39AA45CD8109E04A69C0843A_12</vt:lpwstr>
  </property>
</Properties>
</file>